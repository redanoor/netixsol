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7" r:id="rId1"/>
  </p:sldMasterIdLst>
  <p:notesMasterIdLst>
    <p:notesMasterId r:id="rId10"/>
  </p:notes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3447" autoAdjust="0"/>
  </p:normalViewPr>
  <p:slideViewPr>
    <p:cSldViewPr snapToGrid="0" snapToObjects="1">
      <p:cViewPr>
        <p:scale>
          <a:sx n="58" d="100"/>
          <a:sy n="58" d="100"/>
        </p:scale>
        <p:origin x="964" y="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300" b="0" i="0" u="none" strike="noStrike">
                <a:solidFill>
                  <a:srgbClr val="000000"/>
                </a:solidFill>
                <a:latin typeface="Arial"/>
              </a:rPr>
              <a:t>Target Class Balance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A4F-4475-A875-7565FAD01CEB}"/>
              </c:ext>
            </c:extLst>
          </c:dPt>
          <c:dPt>
            <c:idx val="1"/>
            <c:bubble3D val="0"/>
            <c:spPr>
              <a:solidFill>
                <a:srgbClr val="B23A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A4F-4475-A875-7565FAD01CEB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222222"/>
                      </a:solidFill>
                      <a:latin typeface="Arial"/>
                    </a:defRPr>
                  </a:pPr>
                  <a:endParaRPr lang="LID4096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A4F-4475-A875-7565FAD01CEB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222222"/>
                      </a:solidFill>
                      <a:latin typeface="Arial"/>
                    </a:defRPr>
                  </a:pPr>
                  <a:endParaRPr lang="LID4096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A4F-4475-A875-7565FAD01CEB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LID4096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≤$50K</c:v>
                </c:pt>
                <c:pt idx="1">
                  <c:v>&gt;$50K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75.2</c:v>
                </c:pt>
                <c:pt idx="1">
                  <c:v>24.8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A4F-4475-A875-7565FAD01C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400" b="0" i="0" u="none" strike="noStrike">
                <a:solidFill>
                  <a:srgbClr val="000000"/>
                </a:solidFill>
                <a:latin typeface="Arial"/>
              </a:rPr>
              <a:t>Held-Out Metrics (pre-imbalance-correction)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Logistic Reg.</c:v>
                </c:pt>
                <c:pt idx="1">
                  <c:v>Random Forest</c:v>
                </c:pt>
                <c:pt idx="2">
                  <c:v>HistGB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0.76300000000000001</c:v>
                </c:pt>
                <c:pt idx="1">
                  <c:v>0.84</c:v>
                </c:pt>
                <c:pt idx="2">
                  <c:v>0.88400000000000001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C9-4470-87AE-1A494FB8A5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B23A48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Logistic Reg.</c:v>
                </c:pt>
                <c:pt idx="1">
                  <c:v>Random Forest</c:v>
                </c:pt>
                <c:pt idx="2">
                  <c:v>HistGB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0.60299999999999998</c:v>
                </c:pt>
                <c:pt idx="1">
                  <c:v>0.41599999999999998</c:v>
                </c:pt>
                <c:pt idx="2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C9-4470-87AE-1A494FB8A57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84B59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Logistic Reg.</c:v>
                </c:pt>
                <c:pt idx="1">
                  <c:v>Random Forest</c:v>
                </c:pt>
                <c:pt idx="2">
                  <c:v>HistGB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0.91</c:v>
                </c:pt>
                <c:pt idx="1">
                  <c:v>0.9</c:v>
                </c:pt>
                <c:pt idx="2">
                  <c:v>0.91200000000000003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C9-4470-87AE-1A494FB8A5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400" b="0" i="0" u="none" strike="noStrike">
                <a:solidFill>
                  <a:srgbClr val="000000"/>
                </a:solidFill>
                <a:latin typeface="Arial"/>
              </a:rPr>
              <a:t>4 Techniques — Hold-Out Metrics (Leakage-Safe CV Pipelines)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Class Weight</c:v>
                </c:pt>
                <c:pt idx="1">
                  <c:v>Undersample</c:v>
                </c:pt>
                <c:pt idx="2">
                  <c:v>Oversample</c:v>
                </c:pt>
                <c:pt idx="3">
                  <c:v>SMOTE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0.504</c:v>
                </c:pt>
                <c:pt idx="1">
                  <c:v>0.56499999999999995</c:v>
                </c:pt>
                <c:pt idx="2">
                  <c:v>0.56399999999999995</c:v>
                </c:pt>
                <c:pt idx="3">
                  <c:v>0.57699999999999996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3A-459A-B3EE-CD02C452A39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84B59F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Class Weight</c:v>
                </c:pt>
                <c:pt idx="1">
                  <c:v>Undersample</c:v>
                </c:pt>
                <c:pt idx="2">
                  <c:v>Oversample</c:v>
                </c:pt>
                <c:pt idx="3">
                  <c:v>SMOTE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0.88</c:v>
                </c:pt>
                <c:pt idx="1">
                  <c:v>0.85699999999999998</c:v>
                </c:pt>
                <c:pt idx="2">
                  <c:v>0.85599999999999998</c:v>
                </c:pt>
                <c:pt idx="3">
                  <c:v>0.84699999999999998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3A-459A-B3EE-CD02C452A39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Class Weight</c:v>
                </c:pt>
                <c:pt idx="1">
                  <c:v>Undersample</c:v>
                </c:pt>
                <c:pt idx="2">
                  <c:v>Oversample</c:v>
                </c:pt>
                <c:pt idx="3">
                  <c:v>SMOTE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0.64100000000000001</c:v>
                </c:pt>
                <c:pt idx="1">
                  <c:v>0.68100000000000005</c:v>
                </c:pt>
                <c:pt idx="2">
                  <c:v>0.68</c:v>
                </c:pt>
                <c:pt idx="3">
                  <c:v>0.68600000000000005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C3A-459A-B3EE-CD02C452A3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400" b="0" i="0" u="none" strike="noStrike">
                <a:solidFill>
                  <a:srgbClr val="000000"/>
                </a:solidFill>
                <a:latin typeface="Arial"/>
              </a:rPr>
              <a:t>Top Global SHAP Features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 value|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Married-civ-spouse</c:v>
                </c:pt>
                <c:pt idx="1">
                  <c:v>Edu × Hours</c:v>
                </c:pt>
                <c:pt idx="2">
                  <c:v>Age</c:v>
                </c:pt>
                <c:pt idx="3">
                  <c:v>Capital Gain</c:v>
                </c:pt>
                <c:pt idx="4">
                  <c:v>Sex: Male</c:v>
                </c:pt>
                <c:pt idx="5">
                  <c:v>Education-Num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0.55300000000000005</c:v>
                </c:pt>
                <c:pt idx="1">
                  <c:v>0.20599999999999999</c:v>
                </c:pt>
                <c:pt idx="2">
                  <c:v>0.20399999999999999</c:v>
                </c:pt>
                <c:pt idx="3">
                  <c:v>0.105</c:v>
                </c:pt>
                <c:pt idx="4">
                  <c:v>5.3999999999999999E-2</c:v>
                </c:pt>
                <c:pt idx="5">
                  <c:v>5.1999999999999998E-2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85-4676-B493-37BFF04EE7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300" b="0" i="0" u="none" strike="noStrike">
                <a:solidFill>
                  <a:srgbClr val="000000"/>
                </a:solidFill>
                <a:latin typeface="Arial"/>
              </a:rPr>
              <a:t>Precision by Age Group (0.258 gap)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B23A4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Young (&lt;25)</c:v>
                </c:pt>
                <c:pt idx="1">
                  <c:v>Adult (25-45)</c:v>
                </c:pt>
                <c:pt idx="2">
                  <c:v>Middle (45-65)</c:v>
                </c:pt>
                <c:pt idx="3">
                  <c:v>Senior (65+)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0.34599999999999997</c:v>
                </c:pt>
                <c:pt idx="1">
                  <c:v>0.56100000000000005</c:v>
                </c:pt>
                <c:pt idx="2">
                  <c:v>0.60399999999999998</c:v>
                </c:pt>
                <c:pt idx="3">
                  <c:v>0.56399999999999995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4D-458F-885E-F0E8CC427F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2853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967E-4237-418A-AF47-47EC4427F7E4}" type="datetimeFigureOut">
              <a:rPr lang="LID4096" smtClean="0"/>
              <a:t>08/07/2026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0823-D97B-4E75-ACB9-43BF408E4B3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392919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967E-4237-418A-AF47-47EC4427F7E4}" type="datetimeFigureOut">
              <a:rPr lang="LID4096" smtClean="0"/>
              <a:t>08/07/2026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0823-D97B-4E75-ACB9-43BF408E4B3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2651452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967E-4237-418A-AF47-47EC4427F7E4}" type="datetimeFigureOut">
              <a:rPr lang="LID4096" smtClean="0"/>
              <a:t>08/07/2026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0823-D97B-4E75-ACB9-43BF408E4B3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492231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967E-4237-418A-AF47-47EC4427F7E4}" type="datetimeFigureOut">
              <a:rPr lang="LID4096" smtClean="0"/>
              <a:t>08/07/2026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0823-D97B-4E75-ACB9-43BF408E4B3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2284150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967E-4237-418A-AF47-47EC4427F7E4}" type="datetimeFigureOut">
              <a:rPr lang="LID4096" smtClean="0"/>
              <a:t>08/07/2026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0823-D97B-4E75-ACB9-43BF408E4B3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7315209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967E-4237-418A-AF47-47EC4427F7E4}" type="datetimeFigureOut">
              <a:rPr lang="LID4096" smtClean="0"/>
              <a:t>08/07/2026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0823-D97B-4E75-ACB9-43BF408E4B3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4699425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967E-4237-418A-AF47-47EC4427F7E4}" type="datetimeFigureOut">
              <a:rPr lang="LID4096" smtClean="0"/>
              <a:t>08/07/2026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0823-D97B-4E75-ACB9-43BF408E4B3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1603064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967E-4237-418A-AF47-47EC4427F7E4}" type="datetimeFigureOut">
              <a:rPr lang="LID4096" smtClean="0"/>
              <a:t>08/07/2026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0823-D97B-4E75-ACB9-43BF408E4B3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45016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967E-4237-418A-AF47-47EC4427F7E4}" type="datetimeFigureOut">
              <a:rPr lang="LID4096" smtClean="0"/>
              <a:t>08/07/2026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0823-D97B-4E75-ACB9-43BF408E4B3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281792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967E-4237-418A-AF47-47EC4427F7E4}" type="datetimeFigureOut">
              <a:rPr lang="LID4096" smtClean="0"/>
              <a:t>08/07/2026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0823-D97B-4E75-ACB9-43BF408E4B3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7505102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967E-4237-418A-AF47-47EC4427F7E4}" type="datetimeFigureOut">
              <a:rPr lang="LID4096" smtClean="0"/>
              <a:t>08/07/2026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0823-D97B-4E75-ACB9-43BF408E4B3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9899768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3334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E967E-4237-418A-AF47-47EC4427F7E4}" type="datetimeFigureOut">
              <a:rPr lang="LID4096" smtClean="0"/>
              <a:t>08/07/2026</a:t>
            </a:fld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70823-D97B-4E75-ACB9-43BF408E4B3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452849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E967E-4237-418A-AF47-47EC4427F7E4}" type="datetimeFigureOut">
              <a:rPr lang="LID4096" smtClean="0"/>
              <a:t>08/07/2026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70823-D97B-4E75-ACB9-43BF408E4B3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72230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DCDFD02-248B-31B0-B05A-DB3C862C7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12" y="2284433"/>
            <a:ext cx="10994775" cy="2113392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Adult Income from Census Data</a:t>
            </a:r>
            <a:br>
              <a:rPr lang="en-US" dirty="0"/>
            </a:br>
            <a:endParaRPr lang="en-US" dirty="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6117FCDE-C3A5-264F-E471-CC702DF886C6}"/>
              </a:ext>
            </a:extLst>
          </p:cNvPr>
          <p:cNvSpPr/>
          <p:nvPr/>
        </p:nvSpPr>
        <p:spPr>
          <a:xfrm>
            <a:off x="3048" y="4212768"/>
            <a:ext cx="121889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28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 · Imbalance Handling · Interpretability · Deployment</a:t>
            </a:r>
            <a:endParaRPr lang="en-US" sz="28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38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Goal &amp;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394960" cy="5029200"/>
          </a:xfrm>
          <a:prstGeom prst="rect">
            <a:avLst/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06455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an individual earns </a:t>
            </a:r>
            <a:r>
              <a:rPr lang="en-US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&gt;$50K/year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census attributes, to support eligibility triage, program targeting, and marketing segmentation.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1520" y="40690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on the positive class is prioritized , 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prediction triggers a costly downstream action.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09360" y="1234440"/>
            <a:ext cx="5394960" cy="5029200"/>
          </a:xfrm>
          <a:prstGeom prst="rect">
            <a:avLst/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6583680" y="1417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"Adult" Census Income dataset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45,175 records after cleaning · 14 base features + 6 engineered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imbalance: 75.2% ≤$50K / 24.8% &gt;$50K</a:t>
            </a:r>
            <a:endParaRPr lang="en-US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6858000" y="3566160"/>
          <a:ext cx="429768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 Model Comparison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80160"/>
          <a:ext cx="676656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280160"/>
            <a:ext cx="4206240" cy="4754880"/>
          </a:xfrm>
          <a:prstGeom prst="rect">
            <a:avLst/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777240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772400" y="1965960"/>
            <a:ext cx="3749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 wins on ROC-AUC &amp; precision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recall is weak (0.45) — the model misses over half of true &gt;$50K cases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class imbalance → addressed next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Fixing Class Imbalance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80160"/>
          <a:ext cx="758952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280160"/>
            <a:ext cx="3429000" cy="4754880"/>
          </a:xfrm>
          <a:prstGeom prst="rect">
            <a:avLst/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8549640" y="1463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Chosen: SMOTE</a:t>
            </a:r>
            <a:endParaRPr lang="en-US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8549640" y="18745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(0.686) &amp; PR-AUC (0.792) of the four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over oversampling is narrow — worth re-checking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jumps from 0.45 → 0.85 vs. the uncorrected model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Model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34440"/>
          <a:ext cx="69494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234440"/>
            <a:ext cx="4023360" cy="4846320"/>
          </a:xfrm>
          <a:prstGeom prst="rect">
            <a:avLst/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7955280" y="1417319"/>
            <a:ext cx="3566160" cy="6183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example (SHAP waterfall)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955280" y="2218508"/>
            <a:ext cx="3566160" cy="3679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 dominates every case (TP / FP / FN)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positive: strong edu×hours signal overrides non-married status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negative: age &amp; education pull down despite married status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Check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80160"/>
          <a:ext cx="60350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812280" y="1280160"/>
            <a:ext cx="4937760" cy="4754880"/>
          </a:xfrm>
          <a:prstGeom prst="rect">
            <a:avLst/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7040880" y="1463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Mitigations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040880" y="2057400"/>
            <a:ext cx="44805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Education-level gap: 1.00 (driven by very-low-support groups)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gap: 0.258 — younger applicants under-served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ranked in top-8 SHAP features but wasn't audited separately — gap to close before launch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Mitigations: collect more data for weak groups, consider group-specific thresholds, monitor fairness metrics post-launch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Monitoring Plan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282864"/>
              </p:ext>
            </p:extLst>
          </p:nvPr>
        </p:nvGraphicFramePr>
        <p:xfrm>
          <a:off x="548640" y="1234440"/>
          <a:ext cx="6949440" cy="3017520"/>
        </p:xfrm>
        <a:graphic>
          <a:graphicData uri="http://schemas.openxmlformats.org/drawingml/2006/table">
            <a:tbl>
              <a:tblPr/>
              <a:tblGrid>
                <a:gridCol w="231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Threshold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Drift (PSI)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PSI &gt; 0.20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Distribution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&gt;10% change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 Distribution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&gt;10% change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Precision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below 0.85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Latency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&gt;200ms / prediction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234440"/>
            <a:ext cx="4023360" cy="4846320"/>
          </a:xfrm>
          <a:prstGeom prst="rect">
            <a:avLst/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7955280" y="1417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955280" y="18745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Shadow-deploy 2-4 weeks, log only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A/B test on 10% traffic vs. current process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Tune threshold to business cost ratio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Fix Series-input inference bug pre-launch</a:t>
            </a:r>
            <a:endParaRPr lang="en-US" sz="2000" dirty="0"/>
          </a:p>
        </p:txBody>
      </p:sp>
      <p:sp>
        <p:nvSpPr>
          <p:cNvPr id="4" name="Text 5"/>
          <p:cNvSpPr/>
          <p:nvPr/>
        </p:nvSpPr>
        <p:spPr>
          <a:xfrm>
            <a:off x="548640" y="448056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 + SMOTE: recall 0.45 → 0.85 at F1 0.686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status, age, and capital gain drive most predictions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Fairness gaps found by age &amp; education — sex audit still needed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shadow deployment → A/B test → threshold tuning → full fairness audit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441</Words>
  <Application>Microsoft Office PowerPoint</Application>
  <PresentationFormat>Widescreen</PresentationFormat>
  <Paragraphs>75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Office 2013 - 2022 Theme</vt:lpstr>
      <vt:lpstr>Predicting Adult Income from Census Data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Rida Noor</cp:lastModifiedBy>
  <cp:revision>5</cp:revision>
  <dcterms:created xsi:type="dcterms:W3CDTF">2026-08-07T09:26:25Z</dcterms:created>
  <dcterms:modified xsi:type="dcterms:W3CDTF">2026-08-07T10:11:59Z</dcterms:modified>
</cp:coreProperties>
</file>